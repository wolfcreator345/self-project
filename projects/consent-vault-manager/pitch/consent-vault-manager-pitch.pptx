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image" Target="../media/image-12-1.png"/><Relationship Id="rId8" Type="http://schemas.openxmlformats.org/officeDocument/2006/relationships/image" Target="../media/image-12-1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863840" y="-1371600"/>
            <a:ext cx="7315200" cy="9601200"/>
          </a:xfrm>
          <a:prstGeom prst="rect">
            <a:avLst/>
          </a:prstGeom>
          <a:solidFill>
            <a:srgbClr val="0A152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4" name="Image 0" descr="/tmp/claude-0/-home-user-Self-Project/0c48a94d-adf1-5cd3-ba0e-1e76ea2b114f/scratchpad/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070" y="968350"/>
            <a:ext cx="486461" cy="4864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6596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Vault Manager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22960" y="3063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compliance automation system for India's Digital Personal Data Protection Act, 2023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22960" y="4160520"/>
            <a:ext cx="1115568" cy="384048"/>
          </a:xfrm>
          <a:prstGeom prst="roundRect">
            <a:avLst>
              <a:gd name="adj" fmla="val 50000"/>
            </a:avLst>
          </a:prstGeom>
          <a:solidFill>
            <a:srgbClr val="1B3358"/>
          </a:solidFill>
          <a:ln w="12700">
            <a:solidFill>
              <a:srgbClr val="2B4A7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16052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103120" y="4160520"/>
            <a:ext cx="2121408" cy="384048"/>
          </a:xfrm>
          <a:prstGeom prst="roundRect">
            <a:avLst>
              <a:gd name="adj" fmla="val 50000"/>
            </a:avLst>
          </a:prstGeom>
          <a:solidFill>
            <a:srgbClr val="1B3358"/>
          </a:solidFill>
          <a:ln w="12700">
            <a:solidFill>
              <a:srgbClr val="2B4A7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03120" y="41605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job workers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89120" y="4160520"/>
            <a:ext cx="2944368" cy="384048"/>
          </a:xfrm>
          <a:prstGeom prst="roundRect">
            <a:avLst>
              <a:gd name="adj" fmla="val 50000"/>
            </a:avLst>
          </a:prstGeom>
          <a:solidFill>
            <a:srgbClr val="1B3358"/>
          </a:solidFill>
          <a:ln w="12700">
            <a:solidFill>
              <a:srgbClr val="2B4A7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0" y="416052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hash-chained ledger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98080" y="416052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1B3358"/>
          </a:solidFill>
          <a:ln w="12700">
            <a:solidFill>
              <a:srgbClr val="2B4A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0" y="416052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tested, and verified live — grounded in the DPDP Act's actual operational obligations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github.com/WolfCreator345/Self-Project  ·  PR #1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B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DPDP Act 2023 doesn't forgive spreadsheets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organization processing Indian personal data is now a Data Fiduciary with real, deadline-driven obligations — and no forgiveness for “we meant to track that.”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9848" y="2624328"/>
            <a:ext cx="566928" cy="566928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8" name="Image 0" descr="/tmp/claude-0/-home-user-Self-Project/0c48a94d-adf1-5cd3-ba0e-1e76ea2b114f/scratchpad/deck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407" y="2751887"/>
            <a:ext cx="311810" cy="3118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64261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drift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69848" y="3291840"/>
            <a:ext cx="4672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revokes consent, but the processors you handed their data to never find out.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55080" y="233172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47688" y="2624328"/>
            <a:ext cx="566928" cy="566928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13" name="Image 1" descr="/tmp/claude-0/-home-user-Self-Project/0c48a94d-adf1-5cd3-ba0e-1e76ea2b114f/scratchpad/deck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247" y="2751887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64261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DSR deadlines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647688" y="3291840"/>
            <a:ext cx="4672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correction, and erasure requests carry statutory response windows — miss one and it's a violation, not an oversight.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77240" y="452628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69848" y="4818888"/>
            <a:ext cx="566928" cy="566928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18" name="Image 2" descr="/tmp/claude-0/-home-user-Self-Project/0c48a94d-adf1-5cd3-ba0e-1e76ea2b114f/scratchpad/deck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407" y="4946447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483717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Breach notification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069848" y="5486400"/>
            <a:ext cx="4672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Protection Board must be notified fast, on a defensible, provable timeline.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355080" y="452628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47688" y="4818888"/>
            <a:ext cx="566928" cy="566928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23" name="Image 3" descr="/tmp/claude-0/-home-user-Self-Project/0c48a94d-adf1-5cd3-ba0e-1e76ea2b114f/scratchpad/deck/icons/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247" y="4946447"/>
            <a:ext cx="311810" cy="3118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60920" y="483717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audit trail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6647688" y="5486400"/>
            <a:ext cx="4672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“Trust us, we handled it” does not hold up when a regulator asks for proof.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Automates the operational grind of compliance —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removing the human from the loop.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notification is drafted by automation and confirmed by a person before it becomes real. Every action — automated or human — lands on a ledger where none of it can be quietly rewritten.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7" name="Image 0" descr="/tmp/claude-0/-home-user-Self-Project/0c48a94d-adf1-5cd3-ba0e-1e76ea2b114f/scratchpad/deck/icons/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519" y="4288079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4160520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84632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Sweeps expiries, escalates overdue DSRs, drafts breach notices and reports on a schedule.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34840" y="4160520"/>
            <a:ext cx="566928" cy="566928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11" name="Image 1" descr="/tmp/claude-0/-home-user-Self-Project/0c48a94d-adf1-5cd3-ba0e-1e76ea2b114f/scratchpad/deck/icons/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399" y="4288079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48072" y="4160520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Human-confirmed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34840" y="484632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external is ever auto-sent — a person creates the real artifact and confirms it happened.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4160520"/>
            <a:ext cx="566928" cy="566928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15" name="Image 2" descr="/tmp/claude-0/-home-user-Self-Project/0c48a94d-adf1-5cd3-ba0e-1e76ea2b114f/scratchpad/deck/icons/l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279" y="4288079"/>
            <a:ext cx="311810" cy="3118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59952" y="4160520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046720" y="484632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SHA-256 hash chain over the audit ledger — edit history, and everything after it breaks.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B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FOUNDATION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purpose rests on exactly one basis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§4: processing personal data must rest on the principal's consent (§6) or one of the Act's enumerated legitimate uses (§7) — never both, never neither. This system models that as a property of the Purpose itself, not the consent record.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33272" y="2478024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B8A94"/>
          </a:solidFill>
          <a:ln/>
        </p:spPr>
      </p:sp>
      <p:sp>
        <p:nvSpPr>
          <p:cNvPr id="8" name="Text 6"/>
          <p:cNvSpPr/>
          <p:nvPr/>
        </p:nvSpPr>
        <p:spPr>
          <a:xfrm>
            <a:off x="1033272" y="24780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33272" y="2935224"/>
            <a:ext cx="4608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 active, revocable ConsentArtifact — granted, tracked, and expiring on the purpose's retention schedule.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33272" y="3520440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communications and promotional offers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creation and service delivery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product improvement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24028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73952" y="2478024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2233F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24780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USE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73952" y="2935224"/>
            <a:ext cx="4608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consent required — or permitted. Processing proceeds on the statutory ground itself.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73952" y="3520440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prevention and security monitoring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800600"/>
            <a:ext cx="10561320" cy="1371600"/>
          </a:xfrm>
          <a:prstGeom prst="roundRect">
            <a:avLst>
              <a:gd name="adj" fmla="val 6000"/>
            </a:avLst>
          </a:prstGeom>
          <a:solidFill>
            <a:srgbClr val="0A1526"/>
          </a:solidFill>
          <a:ln/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69848" y="49651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ENFORCED, NOT JUST LABELED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69848" y="5312664"/>
            <a:ext cx="9976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 "purpose-3" is processed under "legitimate_use" — consent cannot be recorded as its basis.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69848" y="5788152"/>
            <a:ext cx="9976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12 consent artifacts reference the legitimate-use purpose — rejected at creation, in both the mock store and the Postgres repository.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B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automations, running end to end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9848" y="1984248"/>
            <a:ext cx="621792" cy="621792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7" name="Image 0" descr="/tmp/claude-0/-home-user-Self-Project/0c48a94d-adf1-5cd3-ba0e-1e76ea2b114f/scratchpad/deck/icons/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751" y="2124151"/>
            <a:ext cx="341986" cy="3419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2743200"/>
            <a:ext cx="467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lifecycle tracking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69848" y="3172968"/>
            <a:ext cx="4672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Grants, revocations, and expiries flow automatically — a withdrawal cascades to every downstream processor tied to that purpose.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5080" y="169164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7688" y="1984248"/>
            <a:ext cx="621792" cy="621792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12" name="Image 1" descr="/tmp/claude-0/-home-user-Self-Project/0c48a94d-adf1-5cd3-ba0e-1e76ea2b114f/scratchpad/deck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591" y="2124151"/>
            <a:ext cx="341986" cy="3419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47688" y="2743200"/>
            <a:ext cx="467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DSR SLA monitoring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6647688" y="3172968"/>
            <a:ext cx="4672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open Data Subject Rights request is watched against its statutory due date, with internal escalation reminders at T‑7d and T‑2d.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77240" y="416052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69848" y="4453128"/>
            <a:ext cx="621792" cy="621792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17" name="Image 2" descr="/tmp/claude-0/-home-user-Self-Project/0c48a94d-adf1-5cd3-ba0e-1e76ea2b114f/scratchpad/deck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751" y="4593031"/>
            <a:ext cx="341986" cy="3419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69848" y="5212080"/>
            <a:ext cx="467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Breach notice automation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1069848" y="5641848"/>
            <a:ext cx="4672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high/critical breach automatically drafts a Data Protection Board notification and a countdown reminder for the notify-by deadline.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55080" y="416052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7688" y="4453128"/>
            <a:ext cx="621792" cy="621792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22" name="Image 3" descr="/tmp/claude-0/-home-user-Self-Project/0c48a94d-adf1-5cd3-ba0e-1e76ea2b114f/scratchpad/deck/icons/pd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591" y="4593031"/>
            <a:ext cx="341986" cy="34198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47688" y="5212080"/>
            <a:ext cx="467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compliance reports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6647688" y="5641848"/>
            <a:ext cx="4672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PDF snapshot of consents, DSRs, and breaches is generated, archived, and emailed on a recurring schedule.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B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set of interfaces, three ways in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Mock-first design: repository interfaces were fixed before Postgres existed, so the MCP server and job workers never changed when the real backend replaced the mock.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33272" y="2587752"/>
            <a:ext cx="512064" cy="512064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8" name="Image 0" descr="/tmp/claude-0/-home-user-Self-Project/0c48a94d-adf1-5cd3-ba0e-1e76ea2b114f/scratchpad/deck/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486" y="2702966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73352" y="25511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33272" y="3108960"/>
            <a:ext cx="2825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tools exposed over the Model Context Protocol for AI agents and Claude Code.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46020" y="3749040"/>
            <a:ext cx="0" cy="960120"/>
          </a:xfrm>
          <a:prstGeom prst="line">
            <a:avLst/>
          </a:prstGeom>
          <a:noFill/>
          <a:ln w="19050">
            <a:solidFill>
              <a:srgbClr val="9AA6B5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4434840" y="2331720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90872" y="2587752"/>
            <a:ext cx="512064" cy="512064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14" name="Image 1" descr="/tmp/claude-0/-home-user-Self-Project/0c48a94d-adf1-5cd3-ba0e-1e76ea2b114f/scratchpad/deck/icons/ge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086" y="2702966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30952" y="25511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Workers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90872" y="3108960"/>
            <a:ext cx="2825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automations: expiry sweeps, DSR escalation, breach notices, weekly reports.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03620" y="3749040"/>
            <a:ext cx="0" cy="960120"/>
          </a:xfrm>
          <a:prstGeom prst="line">
            <a:avLst/>
          </a:prstGeom>
          <a:noFill/>
          <a:ln w="19050">
            <a:solidFill>
              <a:srgbClr val="9AA6B5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8092440" y="2331720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48472" y="2587752"/>
            <a:ext cx="512064" cy="512064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20" name="Image 2" descr="/tmp/claude-0/-home-user-Self-Project/0c48a94d-adf1-5cd3-ba0e-1e76ea2b114f/scratchpad/deck/icons/cu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2702966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88552" y="25511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NestJS REST API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348472" y="3108960"/>
            <a:ext cx="2825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Session-authenticated endpoints backing the dashboard.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761220" y="3749040"/>
            <a:ext cx="0" cy="960120"/>
          </a:xfrm>
          <a:prstGeom prst="line">
            <a:avLst/>
          </a:prstGeom>
          <a:noFill/>
          <a:ln w="19050">
            <a:solidFill>
              <a:srgbClr val="9AA6B5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4160520" y="4709160"/>
            <a:ext cx="3840480" cy="685800"/>
          </a:xfrm>
          <a:prstGeom prst="roundRect">
            <a:avLst>
              <a:gd name="adj" fmla="val 12000"/>
            </a:avLst>
          </a:prstGeom>
          <a:solidFill>
            <a:srgbClr val="1B8A94"/>
          </a:solidFill>
          <a:ln/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4160520" y="4800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repository interfaces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160520" y="5120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ConsentRepository · DSRRepository · LedgerRepository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080760" y="5394960"/>
            <a:ext cx="0" cy="411480"/>
          </a:xfrm>
          <a:prstGeom prst="line">
            <a:avLst/>
          </a:prstGeom>
          <a:noFill/>
          <a:ln w="19050">
            <a:solidFill>
              <a:srgbClr val="9AA6B5"/>
            </a:solidFill>
            <a:prstDash val="dash"/>
          </a:ln>
        </p:spPr>
      </p:sp>
      <p:sp>
        <p:nvSpPr>
          <p:cNvPr id="28" name="Shape 23"/>
          <p:cNvSpPr/>
          <p:nvPr/>
        </p:nvSpPr>
        <p:spPr>
          <a:xfrm>
            <a:off x="4480560" y="5806440"/>
            <a:ext cx="3200400" cy="658368"/>
          </a:xfrm>
          <a:prstGeom prst="roundRect">
            <a:avLst>
              <a:gd name="adj" fmla="val 12500"/>
            </a:avLst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pic>
        <p:nvPicPr>
          <p:cNvPr id="29" name="Image 3" descr="/tmp/claude-0/-home-user-Self-Project/0c48a94d-adf1-5cd3-ba0e-1e76ea2b114f/scratchpad/deck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5952744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102352" y="58064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consents, DSRs, hash-chained ledger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9052560" y="4160520"/>
            <a:ext cx="2377440" cy="502920"/>
          </a:xfrm>
          <a:prstGeom prst="roundRect">
            <a:avLst>
              <a:gd name="adj" fmla="val 16364"/>
            </a:avLst>
          </a:prstGeom>
          <a:solidFill>
            <a:srgbClr val="F2A93B"/>
          </a:solidFill>
          <a:ln/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9052560" y="4160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777240" y="6492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interface, satisfied twice — an in-memory mock store for local dev and tests, a Postgres implementation for everything real.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action, cryptographically chained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3619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ledger entry's hash is computed over its own data plus the previous entry's hash. Edit history anywhere in the chain, and every hash after it stops matching.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95528" y="242316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1B3358"/>
          </a:solidFill>
          <a:ln w="15875">
            <a:solidFill>
              <a:srgbClr val="1B8A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560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#1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4f9a1c…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" y="31363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SHA-256(prev + data)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980944" y="2747772"/>
            <a:ext cx="310896" cy="31089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0" descr="/tmp/claude-0/-home-user-Self-Project/0c48a94d-adf1-5cd3-ba0e-1e76ea2b114f/scratchpad/deck/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3123" y="2809951"/>
            <a:ext cx="186538" cy="18653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328416" y="242316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1B3358"/>
          </a:solidFill>
          <a:ln w="15875">
            <a:solidFill>
              <a:srgbClr val="1B8A9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28416" y="2560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#2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28416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8e2d70…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28416" y="31363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SHA-256(prev + data)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513832" y="2747772"/>
            <a:ext cx="310896" cy="31089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1" descr="/tmp/claude-0/-home-user-Self-Project/0c48a94d-adf1-5cd3-ba0e-1e76ea2b114f/scratchpad/deck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011" y="2809951"/>
            <a:ext cx="186538" cy="18653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861304" y="242316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1B3358"/>
          </a:solidFill>
          <a:ln w="15875">
            <a:solidFill>
              <a:srgbClr val="1B8A9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861304" y="2560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#3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861304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b31af4…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861304" y="31363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SHA-256(prev + data)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8046720" y="2747772"/>
            <a:ext cx="310896" cy="31089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3" name="Image 2" descr="/tmp/claude-0/-home-user-Self-Project/0c48a94d-adf1-5cd3-ba0e-1e76ea2b114f/scratchpad/deck/icons/l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9" y="2809951"/>
            <a:ext cx="186538" cy="186538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394192" y="242316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1B3358"/>
          </a:solidFill>
          <a:ln w="15875">
            <a:solidFill>
              <a:srgbClr val="1B8A9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394192" y="2560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#4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394192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0c77e9…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394192" y="31363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SHA-256(prev + data)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822960" y="3749040"/>
            <a:ext cx="457200" cy="457200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29" name="Image 3" descr="/tmp/claude-0/-home-user-Self-Project/0c48a94d-adf1-5cd3-ba0e-1e76ea2b114f/scratchpad/deck/icons/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3851910"/>
            <a:ext cx="251460" cy="2514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44752" y="37490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Verifiable on demand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1444752" y="41148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verify_ledger_integrity walks the chain and returns INTACT — or the exact sequence number where it broke.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33" name="Image 4" descr="/tmp/claude-0/-home-user-Self-Project/0c48a94d-adf1-5cd3-ba0e-1e76ea2b114f/scratchpad/deck/icons/cy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903470"/>
            <a:ext cx="251460" cy="2514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44752" y="48006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by default, deep on request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1444752" y="51663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checks re-walk only new entries from a cached checkpoint; a full re-walk is always available as a deep-verify escape hatch.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400800" y="3749040"/>
            <a:ext cx="49377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662940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B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FROM THE REAL DASHBOARD</a:t>
            </a:r>
            <a:endParaRPr lang="en-US" sz="900" dirty="0"/>
          </a:p>
        </p:txBody>
      </p:sp>
      <p:pic>
        <p:nvPicPr>
          <p:cNvPr id="38" name="Image 5" descr="/tmp/claude-0/-home-user-Self-Project/0c48a94d-adf1-5cd3-ba0e-1e76ea2b114f/scratchpad/05-compliance-cro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160520"/>
            <a:ext cx="4480560" cy="1555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B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AUTOMATION STAYS SAFE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external is ever sent by a machine alone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5361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headless worker has no Gmail or Calendar credentials, and shouldn't be handed any. So it drafts and stages — only a human, through Claude Code's live access, creates the real artifact.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324612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57400" y="2807208"/>
            <a:ext cx="685800" cy="6858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8" name="Image 0" descr="/tmp/claude-0/-home-user-Self-Project/0c48a94d-adf1-5cd3-ba0e-1e76ea2b114f/scratchpad/deck/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1705" y="2961513"/>
            <a:ext cx="377190" cy="3771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36850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Detect &amp; Draft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51560" y="4087368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 worker notices something — an expiry, an overdue DSR, a breach — and stages a drafted email, calendar event, or report.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78224" y="3726180"/>
            <a:ext cx="274320" cy="274320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12" name="Image 1" descr="/tmp/claude-0/-home-user-Self-Project/0c48a94d-adf1-5cd3-ba0e-1e76ea2b114f/scratchpad/deck/icons/cy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3781044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07408" y="2514600"/>
            <a:ext cx="324612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687568" y="2807208"/>
            <a:ext cx="685800" cy="6858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15" name="Image 2" descr="/tmp/claude-0/-home-user-Self-Project/0c48a94d-adf1-5cd3-ba0e-1e76ea2b114f/scratchpad/deck/icons/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873" y="2961513"/>
            <a:ext cx="377190" cy="3771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36008" y="36850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Human Reviews &amp; Creates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681728" y="4087368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reviews the draft and creates the real Gmail draft or Calendar event through Claude Code's live connection.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708392" y="3726180"/>
            <a:ext cx="274320" cy="274320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19" name="Image 3" descr="/tmp/claude-0/-home-user-Self-Project/0c48a94d-adf1-5cd3-ba0e-1e76ea2b114f/scratchpad/deck/icons/cy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256" y="3781044"/>
            <a:ext cx="164592" cy="1645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037576" y="2514600"/>
            <a:ext cx="324612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317736" y="2807208"/>
            <a:ext cx="685800" cy="685800"/>
          </a:xfrm>
          <a:prstGeom prst="ellipse">
            <a:avLst/>
          </a:prstGeom>
          <a:solidFill>
            <a:srgbClr val="1FAE7A"/>
          </a:solidFill>
          <a:ln/>
        </p:spPr>
      </p:sp>
      <p:pic>
        <p:nvPicPr>
          <p:cNvPr id="22" name="Image 4" descr="/tmp/claude-0/-home-user-Self-Project/0c48a94d-adf1-5cd3-ba0e-1e76ea2b114f/scratchpad/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2041" y="2961513"/>
            <a:ext cx="377190" cy="37719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266176" y="36850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Confirm &amp; Record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8311896" y="4087368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confirms with the real draft/event id, and the ledger records exactly what happened — with that id, permanently.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777240" y="54864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Gmail's connector here only exposes create_draft — there's no send tool. The draft sits until a human sends it, a stronger gate than anything this system adds on top.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B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RUNNING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dashboard, not a mockup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on this slide is a live capture from the running app — session-authenticated, backed by real Postgres data.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67512" y="2039112"/>
            <a:ext cx="5294376" cy="2704052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pic>
        <p:nvPicPr>
          <p:cNvPr id="7" name="Image 0" descr="/tmp/claude-0/-home-user-Self-Project/0c48a94d-adf1-5cd3-ba0e-1e76ea2b114f/scratchpad/03-consents-ledger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074920" cy="24845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92604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status, drilled into a purpose's real ledger history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62472" y="2039112"/>
            <a:ext cx="5294376" cy="1981581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pic>
        <p:nvPicPr>
          <p:cNvPr id="10" name="Image 1" descr="/tmp/claude-0/-home-user-Self-Project/0c48a94d-adf1-5cd3-ba0e-1e76ea2b114f/scratchpad/05-compliance-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148840"/>
            <a:ext cx="5074920" cy="176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72200" y="4203573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snapshot — ledger integrity, DSR counts, breach log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62472" y="4487037"/>
            <a:ext cx="5294376" cy="1135761"/>
          </a:xfrm>
          <a:prstGeom prst="roundRect">
            <a:avLst>
              <a:gd name="adj" fmla="val 483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pic>
        <p:nvPicPr>
          <p:cNvPr id="13" name="Image 2" descr="/tmp/claude-0/-home-user-Self-Project/0c48a94d-adf1-5cd3-ba0e-1e76ea2b114f/scratchpad/04-dsr-queue-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596765"/>
            <a:ext cx="5074920" cy="91630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5641086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DSR queue, flagging the overdue erasure request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PROTOTYPE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tested, and verified against the real thing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2450592" cy="1737360"/>
          </a:xfrm>
          <a:prstGeom prst="roundRect">
            <a:avLst>
              <a:gd name="adj" fmla="val 4737"/>
            </a:avLst>
          </a:prstGeom>
          <a:solidFill>
            <a:srgbClr val="1B3358"/>
          </a:solidFill>
          <a:ln w="12700">
            <a:solidFill>
              <a:srgbClr val="2B4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79/79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60120" y="31363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44728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integration, 3 packages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29584" y="2148840"/>
            <a:ext cx="2450592" cy="1737360"/>
          </a:xfrm>
          <a:prstGeom prst="roundRect">
            <a:avLst>
              <a:gd name="adj" fmla="val 4737"/>
            </a:avLst>
          </a:prstGeom>
          <a:solidFill>
            <a:srgbClr val="1B3358"/>
          </a:solidFill>
          <a:ln w="12700">
            <a:solidFill>
              <a:srgbClr val="2B4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9584" y="2331720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666744" y="31363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66744" y="344728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to AI agents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6208" y="2148840"/>
            <a:ext cx="2450592" cy="1737360"/>
          </a:xfrm>
          <a:prstGeom prst="roundRect">
            <a:avLst>
              <a:gd name="adj" fmla="val 4737"/>
            </a:avLst>
          </a:prstGeom>
          <a:solidFill>
            <a:srgbClr val="1B3358"/>
          </a:solidFill>
          <a:ln w="12700">
            <a:solidFill>
              <a:srgbClr val="2B4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2331720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373368" y="31363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phases shipped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73368" y="344728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store → full automation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42832" y="2148840"/>
            <a:ext cx="2450592" cy="1737360"/>
          </a:xfrm>
          <a:prstGeom prst="roundRect">
            <a:avLst>
              <a:gd name="adj" fmla="val 4737"/>
            </a:avLst>
          </a:prstGeom>
          <a:solidFill>
            <a:srgbClr val="1B3358"/>
          </a:solidFill>
          <a:ln w="12700">
            <a:solidFill>
              <a:srgbClr val="2B4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42832" y="2331720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079992" y="313639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entries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79992" y="344728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hash-verified intact, live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42976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live, not just typechecked: real Gmail drafts and real Calendar events were created and confirmed through Claude Code, and the audit ledger was re-verified intact after every write — across multiple full backend restarts.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after building, not just at build time: a live-questioning pass caught the lawful-basis gap on this slide's neighbor, and a seed-data date-drift bug that silently broke DSR overdue counts as real time passed — both fixed, tested, and now permanently correct by construction.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counts and coverage as of the latest commit on the project's pull request.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B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production-shaped stack, not a toy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245059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51076" y="1993392"/>
            <a:ext cx="502920" cy="502920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7" name="Image 0" descr="/tmp/claude-0/-home-user-Self-Project/0c48a94d-adf1-5cd3-ba0e-1e76ea2b114f/scratchpad/deck/icons/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4233" y="2106549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63347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TypeScript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41832" y="3072384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 — domain model, servers, workers, UI.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29000" y="1737360"/>
            <a:ext cx="245059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02836" y="1993392"/>
            <a:ext cx="502920" cy="502920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12" name="Image 1" descr="/tmp/claude-0/-home-user-Self-Project/0c48a94d-adf1-5cd3-ba0e-1e76ea2b114f/scratchpad/deck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993" y="2106549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63347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+ Prisma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93592" y="3072384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state, migrated schema, real transactions.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80760" y="1737360"/>
            <a:ext cx="245059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54596" y="1993392"/>
            <a:ext cx="502920" cy="502920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17" name="Image 2" descr="/tmp/claude-0/-home-user-Self-Project/0c48a94d-adf1-5cd3-ba0e-1e76ea2b114f/scratchpad/deck/icons/ge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753" y="2106549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63347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NestJS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245352" y="3072384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Session-authenticated REST API for the dashboard.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732520" y="1737360"/>
            <a:ext cx="245059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706356" y="1993392"/>
            <a:ext cx="502920" cy="502920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22" name="Image 3" descr="/tmp/claude-0/-home-user-Self-Project/0c48a94d-adf1-5cd3-ba0e-1e76ea2b114f/scratchpad/deck/icons/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9513" y="2106549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869680" y="263347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19 + Vite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897112" y="3072384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for live-polling dashboard views.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777240" y="4114800"/>
            <a:ext cx="245059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751076" y="4370832"/>
            <a:ext cx="502920" cy="502920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27" name="Image 4" descr="/tmp/claude-0/-home-user-Self-Project/0c48a94d-adf1-5cd3-ba0e-1e76ea2b114f/scratchpad/deck/icons/cy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4233" y="4483989"/>
            <a:ext cx="276606" cy="27660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4400" y="501091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BullMQ + Redis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41832" y="5449824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job scheduling for every automation.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429000" y="4114800"/>
            <a:ext cx="245059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402836" y="4370832"/>
            <a:ext cx="502920" cy="502920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32" name="Image 5" descr="/tmp/claude-0/-home-user-Self-Project/0c48a94d-adf1-5cd3-ba0e-1e76ea2b114f/scratchpad/deck/icons/ro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5993" y="4483989"/>
            <a:ext cx="276606" cy="27660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66160" y="501091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Context Protocol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3593592" y="5449824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tool access for AI agents.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080760" y="4114800"/>
            <a:ext cx="245059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054596" y="4370832"/>
            <a:ext cx="502920" cy="502920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37" name="Image 6" descr="/tmp/claude-0/-home-user-Self-Project/0c48a94d-adf1-5cd3-ba0e-1e76ea2b114f/scratchpad/deck/icons/pd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7753" y="4483989"/>
            <a:ext cx="276606" cy="27660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217920" y="501091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pdfmake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6245352" y="5449824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PDF generation for compliance reports.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8732520" y="4114800"/>
            <a:ext cx="2450592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233F">
                <a:alpha val="18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706356" y="4370832"/>
            <a:ext cx="502920" cy="502920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42" name="Image 7" descr="/tmp/claude-0/-home-user-Self-Project/0c48a94d-adf1-5cd3-ba0e-1e76ea2b114f/scratchpad/deck/icons/lo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9513" y="4483989"/>
            <a:ext cx="276606" cy="27660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869680" y="501091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bcrypt + sessions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8897112" y="5449824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Cookie-based auth guarding every dashboard route.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B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phases shipped, each verified before the next began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52144" y="2788920"/>
            <a:ext cx="9765792" cy="0"/>
          </a:xfrm>
          <a:prstGeom prst="line">
            <a:avLst/>
          </a:prstGeom>
          <a:noFill/>
          <a:ln w="25400">
            <a:solidFill>
              <a:srgbClr val="E3E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642616"/>
            <a:ext cx="292608" cy="292608"/>
          </a:xfrm>
          <a:prstGeom prst="ellipse">
            <a:avLst/>
          </a:prstGeom>
          <a:solidFill>
            <a:srgbClr val="1FAE7A"/>
          </a:solidFill>
          <a:ln/>
        </p:spPr>
      </p:sp>
      <p:pic>
        <p:nvPicPr>
          <p:cNvPr id="7" name="Image 0" descr="/tmp/claude-0/-home-user-Self-Project/0c48a94d-adf1-5cd3-ba0e-1e76ea2b114f/scratchpad/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2701138"/>
            <a:ext cx="175565" cy="1755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20116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B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
</a:t>
            </a:r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 layer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00953" y="2642616"/>
            <a:ext cx="292608" cy="292608"/>
          </a:xfrm>
          <a:prstGeom prst="ellipse">
            <a:avLst/>
          </a:prstGeom>
          <a:solidFill>
            <a:srgbClr val="1FAE7A"/>
          </a:solidFill>
          <a:ln/>
        </p:spPr>
      </p:sp>
      <p:pic>
        <p:nvPicPr>
          <p:cNvPr id="10" name="Image 1" descr="/tmp/claude-0/-home-user-Self-Project/0c48a94d-adf1-5cd3-ba0e-1e76ea2b114f/scratchpad/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475" y="2701138"/>
            <a:ext cx="175565" cy="1755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79161" y="3209544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B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
</a:t>
            </a:r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796066" y="2642616"/>
            <a:ext cx="292608" cy="292608"/>
          </a:xfrm>
          <a:prstGeom prst="ellipse">
            <a:avLst/>
          </a:prstGeom>
          <a:solidFill>
            <a:srgbClr val="1FAE7A"/>
          </a:solidFill>
          <a:ln/>
        </p:spPr>
      </p:sp>
      <p:pic>
        <p:nvPicPr>
          <p:cNvPr id="13" name="Image 2" descr="/tmp/claude-0/-home-user-Self-Project/0c48a94d-adf1-5cd3-ba0e-1e76ea2b114f/scratchpad/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588" y="2701138"/>
            <a:ext cx="175565" cy="1755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74274" y="20116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B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
</a:t>
            </a:r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workers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191179" y="2642616"/>
            <a:ext cx="292608" cy="292608"/>
          </a:xfrm>
          <a:prstGeom prst="ellipse">
            <a:avLst/>
          </a:prstGeom>
          <a:solidFill>
            <a:srgbClr val="1FAE7A"/>
          </a:solidFill>
          <a:ln/>
        </p:spPr>
      </p:sp>
      <p:pic>
        <p:nvPicPr>
          <p:cNvPr id="16" name="Image 3" descr="/tmp/claude-0/-home-user-Self-Project/0c48a94d-adf1-5cd3-ba0e-1e76ea2b114f/scratchpad/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701" y="2701138"/>
            <a:ext cx="175565" cy="1755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69387" y="3209544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B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
</a:t>
            </a:r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notifications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6586293" y="2642616"/>
            <a:ext cx="292608" cy="292608"/>
          </a:xfrm>
          <a:prstGeom prst="ellipse">
            <a:avLst/>
          </a:prstGeom>
          <a:solidFill>
            <a:srgbClr val="1FAE7A"/>
          </a:solidFill>
          <a:ln/>
        </p:spPr>
      </p:sp>
      <p:pic>
        <p:nvPicPr>
          <p:cNvPr id="19" name="Image 4" descr="/tmp/claude-0/-home-user-Self-Project/0c48a94d-adf1-5cd3-ba0e-1e76ea2b114f/scratchpad/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814" y="2701138"/>
            <a:ext cx="175565" cy="1755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964501" y="20116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B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
</a:t>
            </a:r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backend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7981406" y="2642616"/>
            <a:ext cx="292608" cy="292608"/>
          </a:xfrm>
          <a:prstGeom prst="ellipse">
            <a:avLst/>
          </a:prstGeom>
          <a:solidFill>
            <a:srgbClr val="1FAE7A"/>
          </a:solidFill>
          <a:ln/>
        </p:spPr>
      </p:sp>
      <p:pic>
        <p:nvPicPr>
          <p:cNvPr id="22" name="Image 5" descr="/tmp/claude-0/-home-user-Self-Project/0c48a94d-adf1-5cd3-ba0e-1e76ea2b114f/scratchpad/dec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9927" y="2701138"/>
            <a:ext cx="175565" cy="17556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359614" y="3209544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B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
</a:t>
            </a:r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 ledger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9376519" y="2642616"/>
            <a:ext cx="292608" cy="292608"/>
          </a:xfrm>
          <a:prstGeom prst="ellipse">
            <a:avLst/>
          </a:prstGeom>
          <a:solidFill>
            <a:srgbClr val="1FAE7A"/>
          </a:solidFill>
          <a:ln/>
        </p:spPr>
      </p:sp>
      <p:pic>
        <p:nvPicPr>
          <p:cNvPr id="25" name="Image 6" descr="/tmp/claude-0/-home-user-Self-Project/0c48a94d-adf1-5cd3-ba0e-1e76ea2b114f/scratchpad/deck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5040" y="2701138"/>
            <a:ext cx="175565" cy="17556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754727" y="20116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B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
</a:t>
            </a:r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dashboard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10771632" y="2642616"/>
            <a:ext cx="292608" cy="292608"/>
          </a:xfrm>
          <a:prstGeom prst="ellipse">
            <a:avLst/>
          </a:prstGeom>
          <a:solidFill>
            <a:srgbClr val="1FAE7A"/>
          </a:solidFill>
          <a:ln/>
        </p:spPr>
      </p:sp>
      <p:pic>
        <p:nvPicPr>
          <p:cNvPr id="28" name="Image 7" descr="/tmp/claude-0/-home-user-Self-Project/0c48a94d-adf1-5cd3-ba0e-1e76ea2b114f/scratchpad/deck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0154" y="2701138"/>
            <a:ext cx="175565" cy="175565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0149840" y="3209544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B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
</a:t>
            </a:r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automation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77724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1800" dirty="0"/>
          </a:p>
        </p:txBody>
      </p:sp>
      <p:sp>
        <p:nvSpPr>
          <p:cNvPr id="31" name="Shape 21"/>
          <p:cNvSpPr/>
          <p:nvPr/>
        </p:nvSpPr>
        <p:spPr>
          <a:xfrm>
            <a:off x="777240" y="4663440"/>
            <a:ext cx="457200" cy="4572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32" name="Image 8" descr="/tmp/claude-0/-home-user-Self-Project/0c48a94d-adf1-5cd3-ba0e-1e76ea2b114f/scratchpad/deck/icons/user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0110" y="4766310"/>
            <a:ext cx="251460" cy="25146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1399032" y="4645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 + RBAC</a:t>
            </a:r>
            <a:endParaRPr lang="en-US" sz="1300" dirty="0"/>
          </a:p>
        </p:txBody>
      </p:sp>
      <p:sp>
        <p:nvSpPr>
          <p:cNvPr id="34" name="Text 23"/>
          <p:cNvSpPr/>
          <p:nvPr/>
        </p:nvSpPr>
        <p:spPr>
          <a:xfrm>
            <a:off x="777240" y="5230368"/>
            <a:ext cx="3364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admin today — real deployments need org boundaries and roles.</a:t>
            </a:r>
            <a:endParaRPr lang="en-US" sz="1050" dirty="0"/>
          </a:p>
        </p:txBody>
      </p:sp>
      <p:sp>
        <p:nvSpPr>
          <p:cNvPr id="35" name="Shape 24"/>
          <p:cNvSpPr/>
          <p:nvPr/>
        </p:nvSpPr>
        <p:spPr>
          <a:xfrm>
            <a:off x="4462272" y="4663440"/>
            <a:ext cx="457200" cy="4572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36" name="Image 9" descr="/tmp/claude-0/-home-user-Self-Project/0c48a94d-adf1-5cd3-ba0e-1e76ea2b114f/scratchpad/deck/icons/databas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5142" y="4766310"/>
            <a:ext cx="251460" cy="25146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084064" y="4645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hardening</a:t>
            </a:r>
            <a:endParaRPr lang="en-US" sz="1300" dirty="0"/>
          </a:p>
        </p:txBody>
      </p:sp>
      <p:sp>
        <p:nvSpPr>
          <p:cNvPr id="38" name="Text 26"/>
          <p:cNvSpPr/>
          <p:nvPr/>
        </p:nvSpPr>
        <p:spPr>
          <a:xfrm>
            <a:off x="4462272" y="5230368"/>
            <a:ext cx="3364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mutations in transactions; move sessions off in-memory storage.</a:t>
            </a:r>
            <a:endParaRPr lang="en-US" sz="1050" dirty="0"/>
          </a:p>
        </p:txBody>
      </p:sp>
      <p:sp>
        <p:nvSpPr>
          <p:cNvPr id="39" name="Shape 27"/>
          <p:cNvSpPr/>
          <p:nvPr/>
        </p:nvSpPr>
        <p:spPr>
          <a:xfrm>
            <a:off x="8147304" y="4663440"/>
            <a:ext cx="457200" cy="457200"/>
          </a:xfrm>
          <a:prstGeom prst="ellipse">
            <a:avLst/>
          </a:prstGeom>
          <a:solidFill>
            <a:srgbClr val="12233F"/>
          </a:solidFill>
          <a:ln/>
        </p:spPr>
      </p:sp>
      <p:pic>
        <p:nvPicPr>
          <p:cNvPr id="40" name="Image 10" descr="/tmp/claude-0/-home-user-Self-Project/0c48a94d-adf1-5cd3-ba0e-1e76ea2b114f/scratchpad/deck/icons/flas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0174" y="4766310"/>
            <a:ext cx="251460" cy="25146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8769096" y="4645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Broader archival targets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8147304" y="5230368"/>
            <a:ext cx="3364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Local-disk report archival today; cloud storage once the connector's ready.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-1828800" y="3840480"/>
            <a:ext cx="7315200" cy="7315200"/>
          </a:xfrm>
          <a:prstGeom prst="rect">
            <a:avLst/>
          </a:prstGeom>
          <a:solidFill>
            <a:srgbClr val="0A1526"/>
          </a:solidFill>
          <a:ln/>
        </p:spPr>
      </p:sp>
      <p:sp>
        <p:nvSpPr>
          <p:cNvPr id="3" name="Shape 1"/>
          <p:cNvSpPr/>
          <p:nvPr/>
        </p:nvSpPr>
        <p:spPr>
          <a:xfrm>
            <a:off x="5592928" y="822960"/>
            <a:ext cx="1005840" cy="1005840"/>
          </a:xfrm>
          <a:prstGeom prst="ellipse">
            <a:avLst/>
          </a:prstGeom>
          <a:solidFill>
            <a:srgbClr val="1B8A94"/>
          </a:solidFill>
          <a:ln/>
        </p:spPr>
      </p:sp>
      <p:pic>
        <p:nvPicPr>
          <p:cNvPr id="4" name="Image 0" descr="/tmp/claude-0/-home-user-Self-Project/0c48a94d-adf1-5cd3-ba0e-1e76ea2b114f/scratchpad/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4212" y="1044245"/>
            <a:ext cx="563270" cy="5632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194560"/>
            <a:ext cx="99943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real, working compliance system —</a:t>
            </a:r>
            <a:endParaRPr lang="en-US" sz="3000" dirty="0"/>
          </a:p>
          <a:p>
            <a:pPr algn="ctr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slide deck pretending to be one.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645920" y="3611880"/>
            <a:ext cx="8897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screenshot, every stat, and every ledger entry in this deck came from the running system.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084168" y="4572000"/>
            <a:ext cx="4023360" cy="54864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8" name="Text 5"/>
          <p:cNvSpPr/>
          <p:nvPr/>
        </p:nvSpPr>
        <p:spPr>
          <a:xfrm>
            <a:off x="4084168" y="4572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github.com/WolfCreator345/Self-Project · PR #1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Vault Manager — DPDP Act 2023 compliance automation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2026-08-04T18:05:19Z</dcterms:created>
  <dcterms:modified xsi:type="dcterms:W3CDTF">2026-08-04T18:05:19Z</dcterms:modified>
</cp:coreProperties>
</file>