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2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image" Target="../media/image-13-1.png"/><Relationship Id="rId6" Type="http://schemas.openxmlformats.org/officeDocument/2006/relationships/image" Target="../media/image-13-1.png"/><Relationship Id="rId7" Type="http://schemas.openxmlformats.org/officeDocument/2006/relationships/image" Target="../media/image-13-1.png"/><Relationship Id="rId8" Type="http://schemas.openxmlformats.org/officeDocument/2006/relationships/image" Target="../media/image-13-1.png"/><Relationship Id="rId9" Type="http://schemas.openxmlformats.org/officeDocument/2006/relationships/image" Target="../media/image-13-1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63840" y="-1371600"/>
            <a:ext cx="7315200" cy="9601200"/>
          </a:xfrm>
          <a:prstGeom prst="rect">
            <a:avLst/>
          </a:prstGeom>
          <a:solidFill>
            <a:srgbClr val="0A152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777240"/>
            <a:ext cx="868680" cy="86868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4" name="Image 0" descr="/tmp/claude-0/-home-user-Self-Project/0c48a94d-adf1-5cd3-ba0e-1e76ea2b114f/scratchpad/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70" y="968350"/>
            <a:ext cx="486461" cy="48646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1965960"/>
            <a:ext cx="9875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Vault Manager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22960" y="306324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compliance automation system for India's Digital Personal Data Protection Act, 2023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416052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16052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103120" y="416052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03120" y="4160520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job workers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9120" y="4160520"/>
            <a:ext cx="2944368" cy="384048"/>
          </a:xfrm>
          <a:prstGeom prst="roundRect">
            <a:avLst>
              <a:gd name="adj" fmla="val 50000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0" y="416052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hash-chained ledger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41605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9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and verified live — grounded in the DPDP Act's actual operational obligations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8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github.com/WolfCreator345/Self-Project  ·  PR #1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DPDP Act 2023 doesn't forgive spreadsheets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organization processing Indian personal data is now a Data Fiduciary with real, deadline-driven obligations — and no forgiveness for “we meant to track that.”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9848" y="2624328"/>
            <a:ext cx="566928" cy="566928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8" name="Image 0" descr="/tmp/claude-0/-home-user-Self-Project/0c48a94d-adf1-5cd3-ba0e-1e76ea2b114f/scratchpad/deck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407" y="2751887"/>
            <a:ext cx="311810" cy="3118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6426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drift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1069848" y="329184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 revokes consent, but the processors you handed their data to never find out.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55080" y="233172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47688" y="2624328"/>
            <a:ext cx="566928" cy="566928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13" name="Image 1" descr="/tmp/claude-0/-home-user-Self-Project/0c48a94d-adf1-5cd3-ba0e-1e76ea2b114f/scratchpad/deck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247" y="2751887"/>
            <a:ext cx="311810" cy="3118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60920" y="264261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DSR deadlines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47688" y="329184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correction, and erasure requests carry statutory response windows — miss one and it's a violation, not an oversight.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52628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69848" y="4818888"/>
            <a:ext cx="566928" cy="566928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18" name="Image 2" descr="/tmp/claude-0/-home-user-Self-Project/0c48a94d-adf1-5cd3-ba0e-1e76ea2b114f/scratchpad/deck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407" y="4946447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83080" y="483717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Breach notification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>
            <a:off x="1069848" y="548640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Protection Board must be notified fast, on a defensible, provable timeline.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355080" y="452628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647688" y="4818888"/>
            <a:ext cx="566928" cy="566928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23" name="Image 3" descr="/tmp/claude-0/-home-user-Self-Project/0c48a94d-adf1-5cd3-ba0e-1e76ea2b114f/scratchpad/deck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247" y="4946447"/>
            <a:ext cx="311810" cy="31181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60920" y="4837176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audit trail</a:t>
            </a:r>
            <a:endParaRPr lang="en-US" sz="1650" dirty="0"/>
          </a:p>
        </p:txBody>
      </p:sp>
      <p:sp>
        <p:nvSpPr>
          <p:cNvPr id="25" name="Text 19"/>
          <p:cNvSpPr/>
          <p:nvPr/>
        </p:nvSpPr>
        <p:spPr>
          <a:xfrm>
            <a:off x="6647688" y="548640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“Trust us, we handled it” does not hold up when a regulator asks for proof.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2412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Automates the operational grind of compliance —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removing the human from the loop.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06324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notification is drafted by automation and confirmed by a person before it becomes real. Every action — automated or human — lands on a ledger where none of it can be quietly rewritten.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566928" cy="566928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7" name="Image 0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519" y="4288079"/>
            <a:ext cx="311810" cy="3118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36192" y="416052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484632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expiries, escalates overdue DSRs, drafts breach notices and reports on a schedule.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34840" y="4160520"/>
            <a:ext cx="566928" cy="566928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1" name="Image 1" descr="/tmp/claude-0/-home-user-Self-Project/0c48a94d-adf1-5cd3-ba0e-1e76ea2b114f/scratchpad/deck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399" y="4288079"/>
            <a:ext cx="311810" cy="31181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48072" y="416052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Human-confirmed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434840" y="484632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external is ever auto-sent — a person creates the real artifact and confirms it happened.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46720" y="4160520"/>
            <a:ext cx="566928" cy="566928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5" name="Image 2" descr="/tmp/claude-0/-home-user-Self-Project/0c48a94d-adf1-5cd3-ba0e-1e76ea2b114f/scratchpad/deck/icons/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279" y="4288079"/>
            <a:ext cx="311810" cy="3118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759952" y="4160520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046720" y="4846320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SHA-256 hash chain over the audit ledger — edit history, and everything after it breaks.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LEGAL FOUNDATION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purpose rests on exactly one basis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§4: processing personal data must rest on the principal's consent (§6) or one of the Act's enumerated legitimate uses (§7) — never both, never neither. This system models that as a property of the Purpose itself, not the consent record.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51206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33272" y="2478024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B8A94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247802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33272" y="2935224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 active, revocable ConsentArtifact — granted, tracked, and expiring on the purpose's retention schedule.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3520440"/>
            <a:ext cx="4608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communications and promotional offers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 and service delivery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product improvement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2240280"/>
            <a:ext cx="51206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73952" y="2478024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2233F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247802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USE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73952" y="2935224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consent required — or permitted. Processing proceeds on the statutory ground itself.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73952" y="3520440"/>
            <a:ext cx="4608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prevention and security monitoring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800600"/>
            <a:ext cx="10561320" cy="1371600"/>
          </a:xfrm>
          <a:prstGeom prst="roundRect">
            <a:avLst>
              <a:gd name="adj" fmla="val 6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69848" y="49651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JUST LABELED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69848" y="5312664"/>
            <a:ext cx="9976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Purpose "purpose-3" is processed under "legitimate_use" — consent cannot be recorded as its basis.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69848" y="5788152"/>
            <a:ext cx="9976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12 consent artifacts reference the legitimate-use purpose — rejected at creation, in both the mock store and the Postgres repository.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automations, running end to end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1984248"/>
            <a:ext cx="621792" cy="621792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7" name="Image 0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751" y="2124151"/>
            <a:ext cx="341986" cy="3419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9848" y="2743200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lifecycle tracking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069848" y="3172968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Grants, revocations, and expiries flow automatically — a withdrawal cascades to every downstream processor tied to that purpose.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55080" y="169164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7688" y="1984248"/>
            <a:ext cx="621792" cy="621792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2" name="Image 1" descr="/tmp/claude-0/-home-user-Self-Project/0c48a94d-adf1-5cd3-ba0e-1e76ea2b114f/scratchpad/deck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4151"/>
            <a:ext cx="341986" cy="3419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7688" y="2743200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DSR SLA monitoring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6647688" y="3172968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open Data Subject Rights request is watched against its statutory due date, with internal escalation reminders at T‑7d and T‑2d.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77240" y="416052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69848" y="4453128"/>
            <a:ext cx="621792" cy="621792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7" name="Image 2" descr="/tmp/claude-0/-home-user-Self-Project/0c48a94d-adf1-5cd3-ba0e-1e76ea2b114f/scratchpad/deck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751" y="4593031"/>
            <a:ext cx="341986" cy="34198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9848" y="5212080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Breach notice automation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1069848" y="5641848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high/critical breach automatically drafts a Data Protection Board notification and a countdown reminder for the notify-by deadline.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355080" y="416052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7688" y="4453128"/>
            <a:ext cx="621792" cy="621792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22" name="Image 3" descr="/tmp/claude-0/-home-user-Self-Project/0c48a94d-adf1-5cd3-ba0e-1e76ea2b114f/scratchpad/deck/icons/pd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591" y="4593031"/>
            <a:ext cx="341986" cy="34198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647688" y="5212080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compliance reports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6647688" y="5641848"/>
            <a:ext cx="4672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snapshot of consents, DSRs, and breaches is generated, archived, and emailed on a recurring schedule.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 of interfaces, three ways in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Mock-first design: repository interfaces were fixed before Postgres existed, so the MCP server and job workers never changed when the real backend replaced the mock.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33375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33272" y="2587752"/>
            <a:ext cx="512064" cy="512064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8" name="Image 0" descr="/tmp/claude-0/-home-user-Self-Project/0c48a94d-adf1-5cd3-ba0e-1e76ea2b114f/scratchpad/deck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8486" y="2702966"/>
            <a:ext cx="281635" cy="28163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73352" y="255117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33272" y="310896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tools exposed over the Model Context Protocol for AI agents and Claude Code.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446020" y="3749040"/>
            <a:ext cx="0" cy="96012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4434840" y="2331720"/>
            <a:ext cx="33375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90872" y="2587752"/>
            <a:ext cx="512064" cy="512064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4" name="Image 1" descr="/tmp/claude-0/-home-user-Self-Project/0c48a94d-adf1-5cd3-ba0e-1e76ea2b114f/scratchpad/deck/icons/g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086" y="2702966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330952" y="255117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Job Workers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90872" y="310896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automations: expiry sweeps, DSR escalation, breach notices, weekly reports.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103620" y="3749040"/>
            <a:ext cx="0" cy="96012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8092440" y="2331720"/>
            <a:ext cx="333756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48472" y="2587752"/>
            <a:ext cx="512064" cy="512064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20" name="Image 2" descr="/tmp/claude-0/-home-user-Self-Project/0c48a94d-adf1-5cd3-ba0e-1e76ea2b114f/scratchpad/deck/icons/cu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702966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88552" y="255117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NestJS REST API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348472" y="3108960"/>
            <a:ext cx="2825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Session-authenticated endpoints backing the dashboard.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761220" y="3749040"/>
            <a:ext cx="0" cy="96012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24" name="Shape 19"/>
          <p:cNvSpPr/>
          <p:nvPr/>
        </p:nvSpPr>
        <p:spPr>
          <a:xfrm>
            <a:off x="4160520" y="4709160"/>
            <a:ext cx="3840480" cy="685800"/>
          </a:xfrm>
          <a:prstGeom prst="roundRect">
            <a:avLst>
              <a:gd name="adj" fmla="val 12000"/>
            </a:avLst>
          </a:prstGeom>
          <a:solidFill>
            <a:srgbClr val="1B8A94"/>
          </a:solidFill>
          <a:ln/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4160520" y="4800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repository interfaces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4160520" y="5120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8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ConsentRepository · DSRRepository · LedgerRepository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080760" y="5394960"/>
            <a:ext cx="0" cy="411480"/>
          </a:xfrm>
          <a:prstGeom prst="line">
            <a:avLst/>
          </a:prstGeom>
          <a:noFill/>
          <a:ln w="19050">
            <a:solidFill>
              <a:srgbClr val="9AA6B5"/>
            </a:solidFill>
            <a:prstDash val="dash"/>
          </a:ln>
        </p:spPr>
      </p:sp>
      <p:sp>
        <p:nvSpPr>
          <p:cNvPr id="28" name="Shape 23"/>
          <p:cNvSpPr/>
          <p:nvPr/>
        </p:nvSpPr>
        <p:spPr>
          <a:xfrm>
            <a:off x="4480560" y="5806440"/>
            <a:ext cx="3200400" cy="658368"/>
          </a:xfrm>
          <a:prstGeom prst="roundRect">
            <a:avLst>
              <a:gd name="adj" fmla="val 125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29" name="Image 3" descr="/tmp/claude-0/-home-user-Self-Project/0c48a94d-adf1-5cd3-ba0e-1e76ea2b114f/scratchpad/deck/icons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952744"/>
            <a:ext cx="365760" cy="36576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102352" y="58064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consents, DSRs, hash-chained ledger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9052560" y="4160520"/>
            <a:ext cx="2377440" cy="502920"/>
          </a:xfrm>
          <a:prstGeom prst="roundRect">
            <a:avLst>
              <a:gd name="adj" fmla="val 16364"/>
            </a:avLst>
          </a:prstGeom>
          <a:solidFill>
            <a:srgbClr val="F2A93B"/>
          </a:solidFill>
          <a:ln/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9052560" y="4160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777240" y="64922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interface, satisfied twice — an in-memory mock store for local dev and tests, a Postgres implementation for everything real.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5486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action, cryptographically chained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536192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ledger entry's hash is computed over its own data plus the previous entry's hash. Edit history anywhere in the chain, and every hash after it stops matching.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95528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1B3358"/>
          </a:solidFill>
          <a:ln w="15875">
            <a:solidFill>
              <a:srgbClr val="1B8A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560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#1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4f9a1c…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95528" y="313639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SHA-256(prev + data)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980944" y="2747772"/>
            <a:ext cx="310896" cy="310896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1" name="Image 0" descr="/tmp/claude-0/-home-user-Self-Project/0c48a94d-adf1-5cd3-ba0e-1e76ea2b114f/scratchpad/deck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3123" y="2809951"/>
            <a:ext cx="186538" cy="18653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328416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1B3358"/>
          </a:solidFill>
          <a:ln w="15875">
            <a:solidFill>
              <a:srgbClr val="1B8A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28416" y="2560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#2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28416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8e2d70…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28416" y="313639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SHA-256(prev + data)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513832" y="2747772"/>
            <a:ext cx="310896" cy="310896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1" descr="/tmp/claude-0/-home-user-Self-Project/0c48a94d-adf1-5cd3-ba0e-1e76ea2b114f/scratchpad/deck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011" y="2809951"/>
            <a:ext cx="186538" cy="18653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861304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1B3358"/>
          </a:solidFill>
          <a:ln w="15875">
            <a:solidFill>
              <a:srgbClr val="1B8A9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861304" y="2560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#3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861304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b31af4…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5861304" y="313639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SHA-256(prev + data)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8046720" y="2747772"/>
            <a:ext cx="310896" cy="310896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23" name="Image 2" descr="/tmp/claude-0/-home-user-Self-Project/0c48a94d-adf1-5cd3-ba0e-1e76ea2b114f/scratchpad/deck/icons/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899" y="2809951"/>
            <a:ext cx="186538" cy="186538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394192" y="242316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1B3358"/>
          </a:solidFill>
          <a:ln w="15875">
            <a:solidFill>
              <a:srgbClr val="1B8A94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394192" y="2560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#4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394192" y="2880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0c77e9…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394192" y="313639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SHA-256(prev + data)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822960" y="3749040"/>
            <a:ext cx="457200" cy="45720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29" name="Image 3" descr="/tmp/claude-0/-home-user-Self-Project/0c48a94d-adf1-5cd3-ba0e-1e76ea2b114f/scratchpad/deck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3851910"/>
            <a:ext cx="251460" cy="25146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444752" y="3749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Verifiable on demand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1444752" y="41148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verify_ledger_integrity walks the chain and returns INTACT — or the exact sequence number where it broke.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822960" y="4800600"/>
            <a:ext cx="457200" cy="45720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33" name="Image 4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30" y="4903470"/>
            <a:ext cx="251460" cy="25146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44752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by default, deep on request</a:t>
            </a:r>
            <a:endParaRPr lang="en-US" sz="1350" dirty="0"/>
          </a:p>
        </p:txBody>
      </p:sp>
      <p:sp>
        <p:nvSpPr>
          <p:cNvPr id="35" name="Text 28"/>
          <p:cNvSpPr/>
          <p:nvPr/>
        </p:nvSpPr>
        <p:spPr>
          <a:xfrm>
            <a:off x="1444752" y="51663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checks re-walk only new entries from a cached checkpoint; a full re-walk is always available as a deep-verify escape hatch.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400800" y="3749040"/>
            <a:ext cx="49377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7" name="Text 30"/>
          <p:cNvSpPr/>
          <p:nvPr/>
        </p:nvSpPr>
        <p:spPr>
          <a:xfrm>
            <a:off x="6629400" y="3886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FROM THE REAL DASHBOARD</a:t>
            </a:r>
            <a:endParaRPr lang="en-US" sz="900" dirty="0"/>
          </a:p>
        </p:txBody>
      </p:sp>
      <p:pic>
        <p:nvPicPr>
          <p:cNvPr id="38" name="Image 5" descr="/tmp/claude-0/-home-user-Self-Project/0c48a94d-adf1-5cd3-ba0e-1e76ea2b114f/scratchpad/05-compliance-cr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160520"/>
            <a:ext cx="4480560" cy="1555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AUTOMATION STAYS SAFE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external is ever sent by a machine alone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1536192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headless worker has no Gmail or Calendar credentials, and shouldn't be handed any. So it drafts and stages — only a human, through Claude Code's live access, creates the real artifact.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514600"/>
            <a:ext cx="3246120" cy="269748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57400" y="2807208"/>
            <a:ext cx="685800" cy="685800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8" name="Image 0" descr="/tmp/claude-0/-home-user-Self-Project/0c48a94d-adf1-5cd3-ba0e-1e76ea2b114f/scratchpad/deck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1705" y="2961513"/>
            <a:ext cx="377190" cy="37719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36850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Detect &amp; Draft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51560" y="4087368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worker notices something — an expiry, an overdue DSR, a breach — and stages a drafted email, calendar event, or report.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78224" y="3726180"/>
            <a:ext cx="274320" cy="2743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2" name="Image 1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088" y="3781044"/>
            <a:ext cx="164592" cy="16459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07408" y="2514600"/>
            <a:ext cx="3246120" cy="269748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687568" y="2807208"/>
            <a:ext cx="685800" cy="685800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15" name="Image 2" descr="/tmp/claude-0/-home-user-Self-Project/0c48a94d-adf1-5cd3-ba0e-1e76ea2b114f/scratchpad/deck/icons/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873" y="2961513"/>
            <a:ext cx="377190" cy="37719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36008" y="36850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Human Reviews &amp; Creates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4681728" y="4087368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reviews the draft and creates the real Gmail draft or Calendar event through Claude Code's live connection.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7708392" y="3726180"/>
            <a:ext cx="274320" cy="2743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9" name="Image 3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3256" y="3781044"/>
            <a:ext cx="164592" cy="1645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37576" y="2514600"/>
            <a:ext cx="3246120" cy="269748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317736" y="2807208"/>
            <a:ext cx="685800" cy="68580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22" name="Image 4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2041" y="2961513"/>
            <a:ext cx="377190" cy="37719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266176" y="368503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Confirm &amp; Record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8311896" y="4087368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confirms with the real draft/event id, and the ledger records exactly what happened — with that id, permanently.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777240" y="548640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Gmail's connector here only exposes create_draft — there's no send tool. The draft sits until a human sends it, a stronger gate than anything this system adds on top.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dashboard, not a mockup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 on this slide is a live capture from the running app — session-authenticated, backed by real Postgres data.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67512" y="2039112"/>
            <a:ext cx="5294376" cy="2704052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7" name="Image 0" descr="/tmp/claude-0/-home-user-Self-Project/0c48a94d-adf1-5cd3-ba0e-1e76ea2b114f/scratchpad/03-consents-ledger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48840"/>
            <a:ext cx="5074920" cy="24845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4926044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status, drilled into a purpose's real ledger history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62472" y="2039112"/>
            <a:ext cx="5294376" cy="1981581"/>
          </a:xfrm>
          <a:prstGeom prst="roundRect">
            <a:avLst>
              <a:gd name="adj" fmla="val 2769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10" name="Image 1" descr="/tmp/claude-0/-home-user-Self-Project/0c48a94d-adf1-5cd3-ba0e-1e76ea2b114f/scratchpad/05-compliance-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148840"/>
            <a:ext cx="5074920" cy="176212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172200" y="4203573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snapshot — ledger integrity, DSR counts, breach log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62472" y="4487037"/>
            <a:ext cx="5294376" cy="1135761"/>
          </a:xfrm>
          <a:prstGeom prst="roundRect">
            <a:avLst>
              <a:gd name="adj" fmla="val 483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13" name="Image 2" descr="/tmp/claude-0/-home-user-Self-Project/0c48a94d-adf1-5cd3-ba0e-1e76ea2b114f/scratchpad/04-dsr-queue-cr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96765"/>
            <a:ext cx="5074920" cy="9163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72200" y="5641086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queue, flagging the overdue erasure request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BOUNDARIES, NOT ONE ADMIN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code, genuinely separate tenants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fiduciaryId is derived from a parent entity, never supplied by a caller — mcp-server and the job workers needed zero code changes to stay correctly scoped.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47091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267712"/>
            <a:ext cx="493776" cy="493776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8" name="Image 0" descr="/tmp/claude-0/-home-user-Self-Project/0c48a94d-adf1-5cd3-ba0e-1e76ea2b114f/scratchpad/deck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508" y="2378812"/>
            <a:ext cx="271577" cy="27157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22128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600200" y="2505456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dpo can do, plus manage this fiduciary's own team and role assignments.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7240" y="3044952"/>
            <a:ext cx="47091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78408" y="3209544"/>
            <a:ext cx="493776" cy="493776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13" name="Image 1" descr="/tmp/claude-0/-home-user-Self-Project/0c48a94d-adf1-5cd3-ba0e-1e76ea2b114f/scratchpad/deck/icons/ge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508" y="3320644"/>
            <a:ext cx="271577" cy="27157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00200" y="31546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dpo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600200" y="344728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consents, DSRs, and breaches — can't touch /users.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77240" y="3986784"/>
            <a:ext cx="47091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78408" y="4151376"/>
            <a:ext cx="493776" cy="493776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18" name="Image 2" descr="/tmp/claude-0/-home-user-Self-Project/0c48a94d-adf1-5cd3-ba0e-1e76ea2b114f/scratchpad/deck/icons/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08" y="4262476"/>
            <a:ext cx="271577" cy="27157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409651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viewer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600200" y="4389120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everywhere. No writes, no team access.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5800" y="4946904"/>
            <a:ext cx="1920240" cy="1351901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22" name="Image 3" descr="/tmp/claude-0/-home-user-Self-Project/0c48a94d-adf1-5cd3-ba0e-1e76ea2b114f/scratchpad/p8-01-login-cr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38344"/>
            <a:ext cx="1737360" cy="116902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834640" y="4946904"/>
            <a:ext cx="2651760" cy="135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accounts, bcrypt-verified — no shared admin env var.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16752" y="1993392"/>
            <a:ext cx="5431536" cy="1710690"/>
          </a:xfrm>
          <a:prstGeom prst="roundRect">
            <a:avLst>
              <a:gd name="adj" fmla="val 3207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25" name="Image 4" descr="/tmp/claude-0/-home-user-Self-Project/0c48a94d-adf1-5cd3-ba0e-1e76ea2b114f/scratchpad/p8-02-team-admin-cr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2103120"/>
            <a:ext cx="5212080" cy="1491234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126480" y="372237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LexEdu's admin, managing LexEdu's own team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6016752" y="4014978"/>
            <a:ext cx="5431536" cy="1120712"/>
          </a:xfrm>
          <a:prstGeom prst="roundRect">
            <a:avLst>
              <a:gd name="adj" fmla="val 4895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pic>
        <p:nvPicPr>
          <p:cNvPr id="28" name="Image 5" descr="/tmp/claude-0/-home-user-Self-Project/0c48a94d-adf1-5cd3-ba0e-1e76ea2b114f/scratchpad/p8-03-northbridge-dpo-cr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4124706"/>
            <a:ext cx="5212080" cy="9012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126480" y="5153977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tenant, same login screen — only its own data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6126480" y="544658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Fetching another tenant's record by id returns 404, not 403 — a session can't even confirm it exists.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PROTOTYPE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verified against the real thing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2450592" cy="1737360"/>
          </a:xfrm>
          <a:prstGeom prst="roundRect">
            <a:avLst>
              <a:gd name="adj" fmla="val 4737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108/108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960120" y="3136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344728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integration, 3 packages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529584" y="2148840"/>
            <a:ext cx="2450592" cy="1737360"/>
          </a:xfrm>
          <a:prstGeom prst="roundRect">
            <a:avLst>
              <a:gd name="adj" fmla="val 4737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9584" y="23317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666744" y="3136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66744" y="344728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AI agents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6208" y="2148840"/>
            <a:ext cx="2450592" cy="1737360"/>
          </a:xfrm>
          <a:prstGeom prst="roundRect">
            <a:avLst>
              <a:gd name="adj" fmla="val 4737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6208" y="23317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373368" y="3136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phases shipped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73368" y="344728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store → multi-tenant, RBAC-gated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42832" y="2148840"/>
            <a:ext cx="2450592" cy="1737360"/>
          </a:xfrm>
          <a:prstGeom prst="roundRect">
            <a:avLst>
              <a:gd name="adj" fmla="val 4737"/>
            </a:avLst>
          </a:prstGeom>
          <a:solidFill>
            <a:srgbClr val="1B3358"/>
          </a:solidFill>
          <a:ln w="12700">
            <a:solidFill>
              <a:srgbClr val="2B4A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42832" y="233172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079992" y="313639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entries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79992" y="3447288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hash-verified intact, live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4251960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live, not just typechecked: real Gmail drafts and real Calendar events were created and confirmed through Claude Code, and the audit ledger was re-verified intact after every write — across multiple full backend restarts.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4892040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after building, not just at build time: a live-questioning pass caught the lawful-basis gap on this slide's neighbor, a seed-data date-drift bug in DSR overdue counts, and — in the multi-tenant rollout — a repository check that confirmed a consent's principal and purpose shared a fiduciary but not that either was the caller's own. A second, controller-level check closed that gap.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C8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counts and coverage as of the latest commit on the project's pull request.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production-shaped stack, not a toy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751076" y="199339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7" name="Image 0" descr="/tmp/claude-0/-home-user-Self-Project/0c48a94d-adf1-5cd3-ba0e-1e76ea2b114f/scratchpad/deck/icons/cu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4233" y="2106549"/>
            <a:ext cx="276606" cy="2766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63347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41832" y="307238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 — domain model, servers, workers, UI.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29000" y="173736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02836" y="199339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2" name="Image 1" descr="/tmp/claude-0/-home-user-Self-Project/0c48a94d-adf1-5cd3-ba0e-1e76ea2b114f/scratchpad/deck/icons/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993" y="2106549"/>
            <a:ext cx="276606" cy="27660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263347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+ Prisma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593592" y="307238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state, migrated schema, real transactions.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73736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54596" y="199339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17" name="Image 2" descr="/tmp/claude-0/-home-user-Self-Project/0c48a94d-adf1-5cd3-ba0e-1e76ea2b114f/scratchpad/deck/icons/ge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7753" y="2106549"/>
            <a:ext cx="276606" cy="2766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17920" y="263347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NestJS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245352" y="307238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Session-authenticated REST API for the dashboard.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732520" y="173736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706356" y="199339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22" name="Image 3" descr="/tmp/claude-0/-home-user-Self-Project/0c48a94d-adf1-5cd3-ba0e-1e76ea2b114f/scratchpad/deck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9513" y="2106549"/>
            <a:ext cx="276606" cy="27660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0" y="263347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97112" y="307238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 for live-polling dashboard views.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777240" y="411480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751076" y="437083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27" name="Image 4" descr="/tmp/claude-0/-home-user-Self-Project/0c48a94d-adf1-5cd3-ba0e-1e76ea2b114f/scratchpad/deck/icons/cy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4233" y="4483989"/>
            <a:ext cx="276606" cy="27660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4400" y="501091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+ Redis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941832" y="544982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job scheduling for every automation.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429000" y="411480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402836" y="437083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32" name="Image 5" descr="/tmp/claude-0/-home-user-Self-Project/0c48a94d-adf1-5cd3-ba0e-1e76ea2b114f/scratchpad/deck/icons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5993" y="4483989"/>
            <a:ext cx="276606" cy="27660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566160" y="501091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Context Protocol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3593592" y="544982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tool access for AI agents.</a:t>
            </a:r>
            <a:endParaRPr lang="en-US" sz="950" dirty="0"/>
          </a:p>
        </p:txBody>
      </p:sp>
      <p:sp>
        <p:nvSpPr>
          <p:cNvPr id="35" name="Shape 27"/>
          <p:cNvSpPr/>
          <p:nvPr/>
        </p:nvSpPr>
        <p:spPr>
          <a:xfrm>
            <a:off x="6080760" y="411480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054596" y="437083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37" name="Image 6" descr="/tmp/claude-0/-home-user-Self-Project/0c48a94d-adf1-5cd3-ba0e-1e76ea2b114f/scratchpad/deck/icons/pd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7753" y="4483989"/>
            <a:ext cx="276606" cy="27660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217920" y="501091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pdfmake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6245352" y="544982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PDF generation for compliance reports.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8732520" y="4114800"/>
            <a:ext cx="2450592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sx="100000" sy="100000" kx="0" ky="0" algn="bl" rotWithShape="0" blurRad="101600" dist="38100" dir="5400000">
              <a:srgbClr val="12233F">
                <a:alpha val="18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706356" y="4370832"/>
            <a:ext cx="502920" cy="50292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42" name="Image 7" descr="/tmp/claude-0/-home-user-Self-Project/0c48a94d-adf1-5cd3-ba0e-1e76ea2b114f/scratchpad/deck/icons/lo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9513" y="4483989"/>
            <a:ext cx="276606" cy="27660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8869680" y="5010912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bcrypt + RBAC</a:t>
            </a:r>
            <a:endParaRPr lang="en-US" sz="1250" dirty="0"/>
          </a:p>
        </p:txBody>
      </p:sp>
      <p:sp>
        <p:nvSpPr>
          <p:cNvPr id="44" name="Text 34"/>
          <p:cNvSpPr/>
          <p:nvPr/>
        </p:nvSpPr>
        <p:spPr>
          <a:xfrm>
            <a:off x="8897112" y="5449824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sessions, three roles, every route org-scoped by fiduciary.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22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phases shipped, each verified before the next began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51560" y="2788920"/>
            <a:ext cx="10058400" cy="0"/>
          </a:xfrm>
          <a:prstGeom prst="line">
            <a:avLst/>
          </a:prstGeom>
          <a:noFill/>
          <a:ln w="25400">
            <a:solidFill>
              <a:srgbClr val="E3E8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7" name="Image 0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706624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data layer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1717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10" name="Image 1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64" y="2706624"/>
            <a:ext cx="164592" cy="16459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23060" y="319125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4290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13" name="Image 2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7066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8803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workers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46863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16" name="Image 3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1164" y="2706624"/>
            <a:ext cx="164592" cy="16459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137660" y="319125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notifications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59436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19" name="Image 4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2706624"/>
            <a:ext cx="164592" cy="16459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3949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backend</a:t>
            </a:r>
            <a:endParaRPr lang="en-US" sz="850" dirty="0"/>
          </a:p>
        </p:txBody>
      </p:sp>
      <p:sp>
        <p:nvSpPr>
          <p:cNvPr id="21" name="Shape 14"/>
          <p:cNvSpPr/>
          <p:nvPr/>
        </p:nvSpPr>
        <p:spPr>
          <a:xfrm>
            <a:off x="72009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22" name="Image 5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5764" y="2706624"/>
            <a:ext cx="164592" cy="16459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652260" y="319125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 ledger</a:t>
            </a:r>
            <a:endParaRPr lang="en-US" sz="850" dirty="0"/>
          </a:p>
        </p:txBody>
      </p:sp>
      <p:sp>
        <p:nvSpPr>
          <p:cNvPr id="24" name="Shape 16"/>
          <p:cNvSpPr/>
          <p:nvPr/>
        </p:nvSpPr>
        <p:spPr>
          <a:xfrm>
            <a:off x="84582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25" name="Image 6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2706624"/>
            <a:ext cx="164592" cy="16459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79095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dashboard</a:t>
            </a:r>
            <a:endParaRPr lang="en-US" sz="850" dirty="0"/>
          </a:p>
        </p:txBody>
      </p:sp>
      <p:sp>
        <p:nvSpPr>
          <p:cNvPr id="27" name="Shape 18"/>
          <p:cNvSpPr/>
          <p:nvPr/>
        </p:nvSpPr>
        <p:spPr>
          <a:xfrm>
            <a:off x="97155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28" name="Image 7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0364" y="2706624"/>
            <a:ext cx="164592" cy="16459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9166860" y="319125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automation</a:t>
            </a:r>
            <a:endParaRPr lang="en-US" sz="850" dirty="0"/>
          </a:p>
        </p:txBody>
      </p:sp>
      <p:sp>
        <p:nvSpPr>
          <p:cNvPr id="30" name="Shape 20"/>
          <p:cNvSpPr/>
          <p:nvPr/>
        </p:nvSpPr>
        <p:spPr>
          <a:xfrm>
            <a:off x="10972800" y="2651760"/>
            <a:ext cx="274320" cy="274320"/>
          </a:xfrm>
          <a:prstGeom prst="ellipse">
            <a:avLst/>
          </a:prstGeom>
          <a:solidFill>
            <a:srgbClr val="1FAE7A"/>
          </a:solidFill>
          <a:ln/>
        </p:spPr>
      </p:sp>
      <p:pic>
        <p:nvPicPr>
          <p:cNvPr id="31" name="Image 8" descr="/tmp/claude-0/-home-user-Self-Project/0c48a94d-adf1-5cd3-ba0e-1e76ea2b114f/scratchpad/deck/icons/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27664" y="2706624"/>
            <a:ext cx="164592" cy="16459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0424160" y="2011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B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
</a:t>
            </a:r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6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+ RBAC</a:t>
            </a:r>
            <a:endParaRPr lang="en-US" sz="850" dirty="0"/>
          </a:p>
        </p:txBody>
      </p:sp>
      <p:sp>
        <p:nvSpPr>
          <p:cNvPr id="33" name="Text 22"/>
          <p:cNvSpPr/>
          <p:nvPr/>
        </p:nvSpPr>
        <p:spPr>
          <a:xfrm>
            <a:off x="77724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1800" dirty="0"/>
          </a:p>
        </p:txBody>
      </p:sp>
      <p:sp>
        <p:nvSpPr>
          <p:cNvPr id="34" name="Shape 23"/>
          <p:cNvSpPr/>
          <p:nvPr/>
        </p:nvSpPr>
        <p:spPr>
          <a:xfrm>
            <a:off x="777240" y="4800600"/>
            <a:ext cx="457200" cy="457200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35" name="Image 9" descr="/tmp/claude-0/-home-user-Self-Project/0c48a94d-adf1-5cd3-ba0e-1e76ea2b114f/scratchpad/deck/icons/databas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0110" y="4903470"/>
            <a:ext cx="251460" cy="25146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399032" y="4782312"/>
            <a:ext cx="4270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hardening</a:t>
            </a:r>
            <a:endParaRPr lang="en-US" sz="1300" dirty="0"/>
          </a:p>
        </p:txBody>
      </p:sp>
      <p:sp>
        <p:nvSpPr>
          <p:cNvPr id="37" name="Text 25"/>
          <p:cNvSpPr/>
          <p:nvPr/>
        </p:nvSpPr>
        <p:spPr>
          <a:xfrm>
            <a:off x="777240" y="53675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mutations in transactions; move sessions off in-memory storage.</a:t>
            </a:r>
            <a:endParaRPr lang="en-US" sz="1050" dirty="0"/>
          </a:p>
        </p:txBody>
      </p:sp>
      <p:sp>
        <p:nvSpPr>
          <p:cNvPr id="38" name="Shape 26"/>
          <p:cNvSpPr/>
          <p:nvPr/>
        </p:nvSpPr>
        <p:spPr>
          <a:xfrm>
            <a:off x="6126480" y="4800600"/>
            <a:ext cx="457200" cy="457200"/>
          </a:xfrm>
          <a:prstGeom prst="ellipse">
            <a:avLst/>
          </a:prstGeom>
          <a:solidFill>
            <a:srgbClr val="12233F"/>
          </a:solidFill>
          <a:ln/>
        </p:spPr>
      </p:sp>
      <p:pic>
        <p:nvPicPr>
          <p:cNvPr id="39" name="Image 10" descr="/tmp/claude-0/-home-user-Self-Project/0c48a94d-adf1-5cd3-ba0e-1e76ea2b114f/scratchpad/deck/icons/flas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29350" y="4903470"/>
            <a:ext cx="251460" cy="251460"/>
          </a:xfrm>
          <a:prstGeom prst="rect">
            <a:avLst/>
          </a:prstGeom>
        </p:spPr>
      </p:pic>
      <p:sp>
        <p:nvSpPr>
          <p:cNvPr id="40" name="Text 27"/>
          <p:cNvSpPr/>
          <p:nvPr/>
        </p:nvSpPr>
        <p:spPr>
          <a:xfrm>
            <a:off x="6748272" y="4782312"/>
            <a:ext cx="4270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Broader archival targets</a:t>
            </a:r>
            <a:endParaRPr lang="en-US" sz="1300" dirty="0"/>
          </a:p>
        </p:txBody>
      </p:sp>
      <p:sp>
        <p:nvSpPr>
          <p:cNvPr id="41" name="Text 28"/>
          <p:cNvSpPr/>
          <p:nvPr/>
        </p:nvSpPr>
        <p:spPr>
          <a:xfrm>
            <a:off x="6126480" y="53675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Local-disk report archival today; cloud storage once the connector's ready.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3840480"/>
            <a:ext cx="7315200" cy="7315200"/>
          </a:xfrm>
          <a:prstGeom prst="rect">
            <a:avLst/>
          </a:prstGeom>
          <a:solidFill>
            <a:srgbClr val="0A1526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822960"/>
            <a:ext cx="1005840" cy="1005840"/>
          </a:xfrm>
          <a:prstGeom prst="ellipse">
            <a:avLst/>
          </a:prstGeom>
          <a:solidFill>
            <a:srgbClr val="1B8A94"/>
          </a:solidFill>
          <a:ln/>
        </p:spPr>
      </p:sp>
      <p:pic>
        <p:nvPicPr>
          <p:cNvPr id="4" name="Image 0" descr="/tmp/claude-0/-home-user-Self-Project/0c48a94d-adf1-5cd3-ba0e-1e76ea2b114f/scratchpad/deck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4212" y="1044245"/>
            <a:ext cx="56327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2194560"/>
            <a:ext cx="99943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real, working compliance system —</a:t>
            </a:r>
            <a:endParaRPr lang="en-US" sz="3000" dirty="0"/>
          </a:p>
          <a:p>
            <a:pPr algn="ctr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slide deck pretending to be one.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645920" y="361188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screenshot, every stat, and every ledger entry in this deck came from the running system.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084168" y="4572000"/>
            <a:ext cx="4023360" cy="548640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8" name="Text 5"/>
          <p:cNvSpPr/>
          <p:nvPr/>
        </p:nvSpPr>
        <p:spPr>
          <a:xfrm>
            <a:off x="4084168" y="45720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github.com/WolfCreator345/Self-Project · PR #1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C8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Vault Manager — DPDP Act 2023 compliance automation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2026-08-04T19:46:37Z</dcterms:created>
  <dcterms:modified xsi:type="dcterms:W3CDTF">2026-08-04T19:46:37Z</dcterms:modified>
</cp:coreProperties>
</file>